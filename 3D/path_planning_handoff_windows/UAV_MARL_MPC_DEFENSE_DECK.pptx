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640080"/>
            <a:ext cx="4937760" cy="4937760"/>
          </a:xfrm>
          <a:prstGeom prst="arc">
            <a:avLst/>
          </a:prstGeom>
          <a:noFill/>
          <a:ln w="25400">
            <a:solidFill>
              <a:srgbClr val="1B998B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58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</a:rPr>
              <a:t>MARL + Robust MPC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MARL 与 Robust MPC 的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无人机联合路径规划与管控平台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29718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三维气象地图 × 个体画像 × 多智能体强化学习 × 抗扰动航迹跟踪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99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40080" y="4837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单元测试通过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06040" y="43434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2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606040" y="4837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MPC 约束违反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43434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D35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572000" y="4837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</a:t>
            </a:r>
            <a:endParaRPr lang="en-US" sz="900" dirty="0"/>
          </a:p>
        </p:txBody>
      </p:sp>
      <p:pic>
        <p:nvPicPr>
          <p:cNvPr id="13" name="Image 0" descr="E:\path_planning_handoff_windows\outputs\default_scenario\routes_weather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822960"/>
            <a:ext cx="3154680" cy="5120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2920" y="64739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MARL + Robust MPC |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为什么这个问题值得做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多无人机任务分配不是单纯最短路，而是气象、能力和控制可执行性的联合问题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51206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突变气象会改变路径风险，离线规划响应慢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 UAV 的健康状态、载荷能力、风险等级不一致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路径规划结果必须能被底层控制器稳定跟踪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因此需要高层智能分配 + 底层 Robust MPC 闭环评估</a:t>
            </a:r>
            <a:endParaRPr lang="en-US" sz="1500" dirty="0"/>
          </a:p>
        </p:txBody>
      </p:sp>
      <p:pic>
        <p:nvPicPr>
          <p:cNvPr id="5" name="Image 0" descr="E:\path_planning_handoff_windows\outputs\default_scenario\weather_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34440"/>
            <a:ext cx="493776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562356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5692140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从“能规划”到“能执行”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MARL + Robust MPC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系统闭环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数据输入、MAPPO 高层规划、Robust MPC 跟踪和统一 benchmark 已贯通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99339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UAV 个体画像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13639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三维气象地图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427939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任务需求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08960" y="29718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313639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场景构建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03520" y="29718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6672" y="313639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MAPPO / baseline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0" y="29718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45552" y="313639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Robust MPC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966960" y="29718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40112" y="313639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统一指标报告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40280" y="2084832"/>
            <a:ext cx="868680" cy="1133856"/>
          </a:xfrm>
          <a:prstGeom prst="line">
            <a:avLst/>
          </a:prstGeom>
          <a:noFill/>
          <a:ln w="20320">
            <a:solidFill>
              <a:srgbClr val="9AA8B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40280" y="3218688"/>
            <a:ext cx="868680" cy="0"/>
          </a:xfrm>
          <a:prstGeom prst="line">
            <a:avLst/>
          </a:prstGeom>
          <a:noFill/>
          <a:ln w="20320">
            <a:solidFill>
              <a:srgbClr val="9AA8B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40280" y="4370832"/>
            <a:ext cx="868680" cy="-1152144"/>
          </a:xfrm>
          <a:prstGeom prst="line">
            <a:avLst/>
          </a:prstGeom>
          <a:noFill/>
          <a:ln w="20320">
            <a:solidFill>
              <a:srgbClr val="9AA8B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09160" y="3218688"/>
            <a:ext cx="594360" cy="0"/>
          </a:xfrm>
          <a:prstGeom prst="line">
            <a:avLst/>
          </a:prstGeom>
          <a:noFill/>
          <a:ln w="20320">
            <a:solidFill>
              <a:srgbClr val="9AA8B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03720" y="3218688"/>
            <a:ext cx="868680" cy="0"/>
          </a:xfrm>
          <a:prstGeom prst="line">
            <a:avLst/>
          </a:prstGeom>
          <a:noFill/>
          <a:ln w="20320">
            <a:solidFill>
              <a:srgbClr val="9AA8B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372600" y="3218688"/>
            <a:ext cx="594360" cy="0"/>
          </a:xfrm>
          <a:prstGeom prst="line">
            <a:avLst/>
          </a:prstGeom>
          <a:noFill/>
          <a:ln w="20320">
            <a:solidFill>
              <a:srgbClr val="9AA8B5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291840" y="5074920"/>
            <a:ext cx="6217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核心亮点：把 MPC 跟踪误差也纳入 MAPPO 优化目标</a:t>
            </a:r>
            <a:endParaRPr lang="en-US" sz="1250" dirty="0"/>
          </a:p>
          <a:p>
            <a:r>
              <a:rPr lang="en-US" sz="12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最终输出不止路径代价，还包含控制能耗和约束违反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MARL + Robust MPC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数据和画像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MAMBA-Lite 画像、任务点和气象代价地图统一进入场景构建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535680" cy="475488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44752"/>
            <a:ext cx="346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4267200" y="1371600"/>
            <a:ext cx="3535680" cy="475488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03776" y="1444752"/>
            <a:ext cx="346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7802880" y="1371600"/>
            <a:ext cx="3535680" cy="475488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39456" y="1444752"/>
            <a:ext cx="346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31520" y="1847088"/>
            <a:ext cx="3535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1920240"/>
            <a:ext cx="346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画像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67200" y="1847088"/>
            <a:ext cx="3535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03776" y="1920240"/>
            <a:ext cx="346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data/uav_profiles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802880" y="1847088"/>
            <a:ext cx="3535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39456" y="1920240"/>
            <a:ext cx="346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健康、载荷、风险、能耗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2322576"/>
            <a:ext cx="3535680" cy="475488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395728"/>
            <a:ext cx="346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任务数据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267200" y="2322576"/>
            <a:ext cx="3535680" cy="475488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3776" y="2395728"/>
            <a:ext cx="346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data/tasks/demo_tasks.csv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802880" y="2322576"/>
            <a:ext cx="3535680" cy="475488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39456" y="2395728"/>
            <a:ext cx="346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位置、载荷、优先级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1520" y="2798064"/>
            <a:ext cx="3535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2871216"/>
            <a:ext cx="346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气象地图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67200" y="2798064"/>
            <a:ext cx="3535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03776" y="2871216"/>
            <a:ext cx="346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data/weather_cost_map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802880" y="2798064"/>
            <a:ext cx="3535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39456" y="2871216"/>
            <a:ext cx="346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时间、高度、代价、风场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" y="3273552"/>
            <a:ext cx="3535680" cy="475488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3346704"/>
            <a:ext cx="346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配置文件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67200" y="3273552"/>
            <a:ext cx="3535680" cy="475488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03776" y="3346704"/>
            <a:ext cx="346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configs/*.yaml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02880" y="3273552"/>
            <a:ext cx="3535680" cy="475488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39456" y="3346704"/>
            <a:ext cx="346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控制场景与 reward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22960" y="4617720"/>
            <a:ext cx="4114800" cy="310896"/>
          </a:xfrm>
          <a:prstGeom prst="roundRect">
            <a:avLst>
              <a:gd name="adj" fmla="val 23529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4686300"/>
            <a:ext cx="3968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MAMBA-Lite 可用，后续可替换正式 MAMBA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MARL + Robust MPC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 与 MAPPO 设计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MAPPO 负责选择任务、路径策略和高度动作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41148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one_shot：每架 UAV 至多一个任务</a:t>
            </a:r>
            <a:endParaRPr lang="en-US" sz="1300" dirty="0"/>
          </a:p>
          <a:p>
            <a:r>
              <a:rPr lang="en-US" sz="13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sequential：顺序贪心，可连续执行任务</a:t>
            </a:r>
            <a:endParaRPr lang="en-US" sz="1300" dirty="0"/>
          </a:p>
          <a:p>
            <a:r>
              <a:rPr lang="en-US" sz="13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weather_grid：气象感知网格路径</a:t>
            </a:r>
            <a:endParaRPr lang="en-US" sz="1300" dirty="0"/>
          </a:p>
          <a:p>
            <a:r>
              <a:rPr lang="en-US" sz="13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marl_greedy：MARL 环境下的贪心对照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60720" y="1325880"/>
            <a:ext cx="2651760" cy="475488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97296" y="139903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MAPPO 动作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8412480" y="1325880"/>
            <a:ext cx="2651760" cy="475488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49056" y="139903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760720" y="1801368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97296" y="187452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412480" y="1801368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9056" y="187452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直接连接起点和任务点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60720" y="2276856"/>
            <a:ext cx="2651760" cy="475488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97296" y="235000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weather_grid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412480" y="2276856"/>
            <a:ext cx="2651760" cy="475488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9056" y="235000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二维气象网格路径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760720" y="2752344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7296" y="282549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weather_3d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412480" y="2752344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9056" y="282549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三维气象路径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760720" y="3227832"/>
            <a:ext cx="2651760" cy="475488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97296" y="3300984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height action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412480" y="3227832"/>
            <a:ext cx="2651760" cy="475488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49056" y="3300984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选择目标高度层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MARL + Robust MPC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Reward 从路径代价走向可跟踪性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先解决数值稳定，再让 MAPPO 关注底层可控性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57607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 loss 数值过大：引入 reward_scale 与 value target normalization</a:t>
            </a:r>
            <a:endParaRPr lang="en-US" sz="1400" dirty="0"/>
          </a:p>
          <a:p>
            <a:r>
              <a:rPr lang="en-US" sz="14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path-cost reward：降低真实路径代价带来的 critic 不稳定</a:t>
            </a:r>
            <a:endParaRPr lang="en-US" sz="1400" dirty="0"/>
          </a:p>
          <a:p>
            <a:r>
              <a:rPr lang="en-US" sz="14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trackability reward：惩罚过长 waypoint 间距</a:t>
            </a:r>
            <a:endParaRPr lang="en-US" sz="1400" dirty="0"/>
          </a:p>
          <a:p>
            <a:r>
              <a:rPr lang="en-US" sz="14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默认配置保持兼容，新实验单独启用可跟踪性权重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70916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35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trackability_penalty = weight × normalized(max_segment_distance_km)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MARL + Robust MPC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Path-cost MAPPO：高层规划表现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完成全部任务，并低于 marl_greedy 路径代价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623060" cy="475488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399032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354580" y="1325880"/>
            <a:ext cx="1623060" cy="475488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91156" y="1399032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完成任务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977640" y="1325880"/>
            <a:ext cx="1623060" cy="475488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14216" y="1399032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总路径代价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600700" y="1325880"/>
            <a:ext cx="1623060" cy="475488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37276" y="1399032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总奖励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31520" y="1801368"/>
            <a:ext cx="16230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874520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sequential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54580" y="1801368"/>
            <a:ext cx="16230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1156" y="1874520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977640" y="1801368"/>
            <a:ext cx="16230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14216" y="1874520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5848.3320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600700" y="1801368"/>
            <a:ext cx="16230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37276" y="1874520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2276856"/>
            <a:ext cx="1623060" cy="475488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2350008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weather_grid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354580" y="2276856"/>
            <a:ext cx="1623060" cy="475488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91156" y="2350008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977640" y="2276856"/>
            <a:ext cx="1623060" cy="475488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14216" y="2350008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5463.6228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600700" y="2276856"/>
            <a:ext cx="1623060" cy="475488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37276" y="2350008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" y="2752344"/>
            <a:ext cx="16230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2825496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marl_greedy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354580" y="2752344"/>
            <a:ext cx="16230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91156" y="2825496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977640" y="2752344"/>
            <a:ext cx="16230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14216" y="2825496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7907.5821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600700" y="2752344"/>
            <a:ext cx="16230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37276" y="2825496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431.4538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31520" y="3227832"/>
            <a:ext cx="1623060" cy="475488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" y="3300984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path-cost MAPPO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354580" y="3227832"/>
            <a:ext cx="1623060" cy="475488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91156" y="3300984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977640" y="3227832"/>
            <a:ext cx="1623060" cy="475488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14216" y="3300984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6738.1788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600700" y="3227832"/>
            <a:ext cx="1623060" cy="475488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37276" y="3300984"/>
            <a:ext cx="1549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425.3553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863840" y="14630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99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2500" dirty="0"/>
          </a:p>
        </p:txBody>
      </p:sp>
      <p:sp>
        <p:nvSpPr>
          <p:cNvPr id="45" name="Text 43"/>
          <p:cNvSpPr/>
          <p:nvPr/>
        </p:nvSpPr>
        <p:spPr>
          <a:xfrm>
            <a:off x="7863840" y="19568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464040" y="14630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2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6738</a:t>
            </a:r>
            <a:endParaRPr lang="en-US" sz="2500" dirty="0"/>
          </a:p>
        </p:txBody>
      </p:sp>
      <p:sp>
        <p:nvSpPr>
          <p:cNvPr id="47" name="Text 45"/>
          <p:cNvSpPr/>
          <p:nvPr/>
        </p:nvSpPr>
        <p:spPr>
          <a:xfrm>
            <a:off x="9464040" y="19568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MAPPO 路径代价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72400" y="3246120"/>
            <a:ext cx="3200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结论：MAPPO 已具备完整任务分配能力</a:t>
            </a:r>
            <a:endParaRPr lang="en-US" sz="1250" dirty="0"/>
          </a:p>
          <a:p>
            <a:r>
              <a:rPr lang="en-US" sz="12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不足：仍未超过 weather_grid 强专家基线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02920" y="64739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MARL + Robust MPC |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MPC 暴露出路径可执行性问题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路径代价可接受，不代表底层控制可稳定跟踪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2697480" cy="512064"/>
          </a:xfrm>
          <a:prstGeom prst="rect">
            <a:avLst/>
          </a:prstGeom>
          <a:solidFill>
            <a:srgbClr val="D95D5D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444752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3520440" y="1371600"/>
            <a:ext cx="2697480" cy="512064"/>
          </a:xfrm>
          <a:prstGeom prst="rect">
            <a:avLst/>
          </a:prstGeom>
          <a:solidFill>
            <a:srgbClr val="D95D5D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57016" y="1444752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path-cost MAPPO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822960" y="1883664"/>
            <a:ext cx="2697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56816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direct_action_count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520440" y="1883664"/>
            <a:ext cx="2697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1956816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22960" y="2395728"/>
            <a:ext cx="2697480" cy="512064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46888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mpc_mean_tracking_error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20440" y="2395728"/>
            <a:ext cx="2697480" cy="512064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7016" y="246888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69.3290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" y="2907792"/>
            <a:ext cx="2697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980944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mpc_max_tracking_error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20440" y="2907792"/>
            <a:ext cx="2697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57016" y="2980944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2731.1681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22960" y="3419856"/>
            <a:ext cx="2697480" cy="512064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493008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mpc_constraint_violation_count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520440" y="3419856"/>
            <a:ext cx="2697480" cy="512064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57016" y="3493008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0" y="1463040"/>
            <a:ext cx="43891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 direct 航段 waypoint 少，单段距离过大</a:t>
            </a:r>
            <a:endParaRPr lang="en-US" sz="1400" dirty="0"/>
          </a:p>
          <a:p>
            <a:r>
              <a:rPr lang="en-US" sz="14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MPC 需要更密集、更平滑的中间 waypoint</a:t>
            </a:r>
            <a:endParaRPr lang="en-US" sz="1400" dirty="0"/>
          </a:p>
          <a:p>
            <a:r>
              <a:rPr lang="en-US" sz="14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这推动我们加入 trackability reward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MARL + Robust MPC |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Trackability MAPPO：MPC 闭环显著改善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用最长航段惩罚，引导策略选择 weather-grid / weather-3D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2209800" cy="438912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307592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895600" y="1234440"/>
            <a:ext cx="2209800" cy="438912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32176" y="1307592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path-cost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5105400" y="1234440"/>
            <a:ext cx="2209800" cy="438912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1976" y="1307592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trackability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85800" y="1673352"/>
            <a:ext cx="2209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1746504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完成任务数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95600" y="1673352"/>
            <a:ext cx="2209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32176" y="1746504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105400" y="1673352"/>
            <a:ext cx="2209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1976" y="1746504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" y="2112264"/>
            <a:ext cx="2209800" cy="43891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2185416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 动作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95600" y="2112264"/>
            <a:ext cx="2209800" cy="43891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32176" y="2185416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105400" y="2112264"/>
            <a:ext cx="2209800" cy="43891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1976" y="2185416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" y="2551176"/>
            <a:ext cx="2209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" y="2624328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weather-grid 动作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895600" y="2551176"/>
            <a:ext cx="2209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32176" y="2624328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05400" y="2551176"/>
            <a:ext cx="2209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1976" y="2624328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5800" y="2990088"/>
            <a:ext cx="2209800" cy="43891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" y="3063240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weather-3D 动作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895600" y="2990088"/>
            <a:ext cx="2209800" cy="43891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32176" y="3063240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105400" y="2990088"/>
            <a:ext cx="2209800" cy="43891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1976" y="3063240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5800" y="3429000"/>
            <a:ext cx="2209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" y="3502152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MPC 平均误差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895600" y="3429000"/>
            <a:ext cx="2209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32176" y="3502152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69.3290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05400" y="3429000"/>
            <a:ext cx="2209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1976" y="3502152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0.1204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5800" y="3867912"/>
            <a:ext cx="2209800" cy="43891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" y="3941064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MPC 约束违反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895600" y="3867912"/>
            <a:ext cx="2209800" cy="43891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32176" y="3941064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105400" y="3867912"/>
            <a:ext cx="2209800" cy="43891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1976" y="3941064"/>
            <a:ext cx="2136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909560" y="1417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99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500" dirty="0"/>
          </a:p>
        </p:txBody>
      </p:sp>
      <p:sp>
        <p:nvSpPr>
          <p:cNvPr id="47" name="Text 45"/>
          <p:cNvSpPr/>
          <p:nvPr/>
        </p:nvSpPr>
        <p:spPr>
          <a:xfrm>
            <a:off x="7909560" y="19110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约束违反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372600" y="1417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2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0.1204</a:t>
            </a:r>
            <a:endParaRPr lang="en-US" sz="2500" dirty="0"/>
          </a:p>
        </p:txBody>
      </p:sp>
      <p:sp>
        <p:nvSpPr>
          <p:cNvPr id="49" name="Text 47"/>
          <p:cNvSpPr/>
          <p:nvPr/>
        </p:nvSpPr>
        <p:spPr>
          <a:xfrm>
            <a:off x="9372600" y="19110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平均跟踪误差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72400" y="3383280"/>
            <a:ext cx="3474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代价：路径总代价从 6738 升至 7949</a:t>
            </a:r>
            <a:endParaRPr lang="en-US" sz="1200" dirty="0"/>
          </a:p>
          <a:p>
            <a:r>
              <a:rPr lang="en-US" sz="12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意义：系统能显式权衡规划效率和底层可控性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02920" y="64739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MARL + Robust MPC |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Trackability Sweep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w25 与 w50 都完成训练，当前按验证集 trackability 选择 w25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24968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90472"/>
            <a:ext cx="117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1981200" y="1417320"/>
            <a:ext cx="124968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7776" y="1490472"/>
            <a:ext cx="117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完成任务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30880" y="1417320"/>
            <a:ext cx="124968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7456" y="1490472"/>
            <a:ext cx="117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路径代价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124968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490472"/>
            <a:ext cx="117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peak segment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730240" y="1417320"/>
            <a:ext cx="124968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6816" y="1490472"/>
            <a:ext cx="117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grid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979920" y="1417320"/>
            <a:ext cx="124968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16496" y="1490472"/>
            <a:ext cx="117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31520" y="1947672"/>
            <a:ext cx="1249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020824"/>
            <a:ext cx="117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w25_e30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81200" y="1947672"/>
            <a:ext cx="1249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7776" y="2020824"/>
            <a:ext cx="117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30880" y="1947672"/>
            <a:ext cx="1249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7456" y="2020824"/>
            <a:ext cx="117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7541.6717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480560" y="1947672"/>
            <a:ext cx="1249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17136" y="2020824"/>
            <a:ext cx="117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242.1842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30240" y="1947672"/>
            <a:ext cx="1249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6816" y="2020824"/>
            <a:ext cx="117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979920" y="1947672"/>
            <a:ext cx="1249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6496" y="2020824"/>
            <a:ext cx="117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" y="2478024"/>
            <a:ext cx="1249680" cy="53035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2551176"/>
            <a:ext cx="117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w50_e30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81200" y="2478024"/>
            <a:ext cx="1249680" cy="53035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7776" y="2551176"/>
            <a:ext cx="117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30880" y="2478024"/>
            <a:ext cx="1249680" cy="53035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7456" y="2551176"/>
            <a:ext cx="117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7061.4955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80560" y="2478024"/>
            <a:ext cx="1249680" cy="53035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17136" y="2551176"/>
            <a:ext cx="117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242.1842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30240" y="2478024"/>
            <a:ext cx="1249680" cy="53035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6816" y="2551176"/>
            <a:ext cx="117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79920" y="2478024"/>
            <a:ext cx="1249680" cy="53035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16496" y="2551176"/>
            <a:ext cx="1176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03920" y="1508760"/>
            <a:ext cx="2743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w50 在默认场景路径代价更低</a:t>
            </a:r>
            <a:endParaRPr lang="en-US" sz="1250" dirty="0"/>
          </a:p>
          <a:p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w25 在验证集选择口径下更优</a:t>
            </a:r>
            <a:endParaRPr lang="en-US" sz="1250" dirty="0"/>
          </a:p>
          <a:p>
            <a:r>
              <a:rPr lang="en-US" sz="12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 benchmark 的 MPC 约束违反均为 0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MARL + Robust MPC |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seed / 多 episode 稳健性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 seed × 40 episodes，均能完成 5 个任务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116874" cy="493776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399032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1802674" y="1325880"/>
            <a:ext cx="1116874" cy="493776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39250" y="1399032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919549" y="1325880"/>
            <a:ext cx="1116874" cy="493776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56125" y="1399032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episode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036423" y="1325880"/>
            <a:ext cx="1116874" cy="493776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72999" y="1399032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153297" y="1325880"/>
            <a:ext cx="1116874" cy="493776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9873" y="1399032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路径代价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270171" y="1325880"/>
            <a:ext cx="1116874" cy="493776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6747" y="1399032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grid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387046" y="1325880"/>
            <a:ext cx="1116874" cy="493776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3622" y="1399032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85800" y="1819656"/>
            <a:ext cx="111687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" y="1892808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seed7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02674" y="1819656"/>
            <a:ext cx="111687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9250" y="1892808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19549" y="1819656"/>
            <a:ext cx="111687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56125" y="1892808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036423" y="1819656"/>
            <a:ext cx="111687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72999" y="1892808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53297" y="1819656"/>
            <a:ext cx="111687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9873" y="1892808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6350.1909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70171" y="1819656"/>
            <a:ext cx="111687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6747" y="1892808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87046" y="1819656"/>
            <a:ext cx="111687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23622" y="1892808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5800" y="2313432"/>
            <a:ext cx="1116874" cy="493776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" y="2386584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seed11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802674" y="2313432"/>
            <a:ext cx="1116874" cy="493776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39250" y="2386584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919549" y="2313432"/>
            <a:ext cx="1116874" cy="493776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56125" y="2386584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036423" y="2313432"/>
            <a:ext cx="1116874" cy="493776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72999" y="2386584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153297" y="2313432"/>
            <a:ext cx="1116874" cy="493776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89873" y="2386584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7521.3170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70171" y="2313432"/>
            <a:ext cx="1116874" cy="493776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6747" y="2386584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387046" y="2313432"/>
            <a:ext cx="1116874" cy="493776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23622" y="2386584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5800" y="2807208"/>
            <a:ext cx="111687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" y="2880360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seed17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802674" y="2807208"/>
            <a:ext cx="111687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39250" y="2880360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919549" y="2807208"/>
            <a:ext cx="111687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56125" y="2880360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036423" y="2807208"/>
            <a:ext cx="111687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72999" y="2880360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153297" y="2807208"/>
            <a:ext cx="111687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89873" y="2880360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10874.3804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270171" y="2807208"/>
            <a:ext cx="111687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6747" y="2880360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387046" y="2807208"/>
            <a:ext cx="111687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23622" y="2880360"/>
            <a:ext cx="10437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915400" y="14173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99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3/3</a:t>
            </a:r>
            <a:endParaRPr lang="en-US" sz="2500" dirty="0"/>
          </a:p>
        </p:txBody>
      </p:sp>
      <p:sp>
        <p:nvSpPr>
          <p:cNvPr id="61" name="Text 59"/>
          <p:cNvSpPr/>
          <p:nvPr/>
        </p:nvSpPr>
        <p:spPr>
          <a:xfrm>
            <a:off x="8915400" y="19110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 完成任务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915400" y="233172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2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500" dirty="0"/>
          </a:p>
        </p:txBody>
      </p:sp>
      <p:sp>
        <p:nvSpPr>
          <p:cNvPr id="63" name="Text 61"/>
          <p:cNvSpPr/>
          <p:nvPr/>
        </p:nvSpPr>
        <p:spPr>
          <a:xfrm>
            <a:off x="8915400" y="28254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最优 seed 约束违反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732520" y="3657600"/>
            <a:ext cx="2834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seed7_e40 是多 seed 最优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平均跟踪误差 0.1533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02920" y="64739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MARL + Robust MPC |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核心贡献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项目从可运行原型推进到了可展示的规划-控制闭环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8869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统一接入 UAV 个体画像、任务数据和三维气象地图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 baseline、MARL greedy、MAPPO 的统一对比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Robust MPC 指标并入最终 benchmark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 trackability reward，显著降低 MPC 跟踪误差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形成完整复现实验命令、交接报告和答辩材料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MARL + Robust MPC |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局限与下一步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项目已经可交付，继续提升主要面向论文级实验质量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3035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399032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当前局限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0" y="1325880"/>
            <a:ext cx="53035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71616" y="1399032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后续方向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731520" y="1856232"/>
            <a:ext cx="5303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929384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MAPPO 路径代价仍未超过 weather_grid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35040" y="1856232"/>
            <a:ext cx="5303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71616" y="1929384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专家模仿学习 / reward shaping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520" y="2386584"/>
            <a:ext cx="5303520" cy="53035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459736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trackability 会增加路径代价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35040" y="2386584"/>
            <a:ext cx="5303520" cy="53035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71616" y="2459736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设计路径代价 + 可控性联合目标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2916936"/>
            <a:ext cx="5303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990088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训练规模仍偏小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2916936"/>
            <a:ext cx="5303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1616" y="2990088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 seed、episode、场景规模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3447288"/>
            <a:ext cx="5303520" cy="53035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520440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MAMBA-Lite 非正式版本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35040" y="3447288"/>
            <a:ext cx="5303520" cy="530352"/>
          </a:xfrm>
          <a:prstGeom prst="rect">
            <a:avLst/>
          </a:prstGeom>
          <a:solidFill>
            <a:srgbClr val="F7FBFA"/>
          </a:solidFill>
          <a:ln w="12700">
            <a:solidFill>
              <a:srgbClr val="D9E2E5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71616" y="3520440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替换正式 MAMBA 画像输出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MARL + Robust MPC | 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84B"/>
                </a:solidFill>
              </a:rPr>
              <a:t>一句话结论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13232" y="1554480"/>
            <a:ext cx="8595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我们不仅让无人机“规划路径”，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还让系统判断并优化这条路径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能否被底层控制器稳定执行。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379476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D3E6"/>
                </a:solidFill>
              </a:rPr>
              <a:t>气象地图 + 个体画像 + MAPPO + Robust MPC，形成完整联合规划与管控闭环。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507492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514350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148840" y="507492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21992" y="514350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520440" y="507492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514350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可展示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UAV MARL + Robust MPC | 14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Path Planning Handoff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MARL 与 Robust MPC 的无人机联合路径规划与管控平台</dc:title>
  <dc:subject>MARL and Robust MPC UAV path planning</dc:subject>
  <dc:creator>UAV MARL MPC Project</dc:creator>
  <cp:lastModifiedBy>UAV MARL MPC Project</cp:lastModifiedBy>
  <cp:revision>1</cp:revision>
  <dcterms:created xsi:type="dcterms:W3CDTF">2026-05-14T14:06:32Z</dcterms:created>
  <dcterms:modified xsi:type="dcterms:W3CDTF">2026-05-14T14:06:32Z</dcterms:modified>
</cp:coreProperties>
</file>